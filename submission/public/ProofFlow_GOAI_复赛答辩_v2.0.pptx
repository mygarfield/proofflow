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53cd9207594722" /><Relationship Type="http://schemas.openxmlformats.org/officeDocument/2006/relationships/extended-properties" Target="/docProps/app.xml" Id="Rf0d420ebfea7487f" /><Relationship Type="http://schemas.openxmlformats.org/officeDocument/2006/relationships/officeDocument" Target="/ppt/presentation.xml" Id="R65a7e3b3c938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8cbaf8b2d54329"/>
  </p:sldMasterIdLst>
  <p:notesMasterIdLst>
    <p:notesMasterId xmlns:r="http://schemas.openxmlformats.org/officeDocument/2006/relationships" r:id="Rbde16fff8e2a4ba7"/>
  </p:notesMasterIdLst>
  <p:sldIdLst>
    <p:sldId xmlns:r="http://schemas.openxmlformats.org/officeDocument/2006/relationships" id="256" r:id="R02741d4fc2884c52"/>
    <p:sldId xmlns:r="http://schemas.openxmlformats.org/officeDocument/2006/relationships" id="257" r:id="Rac626960bb014e3b"/>
    <p:sldId xmlns:r="http://schemas.openxmlformats.org/officeDocument/2006/relationships" id="258" r:id="Raab15df06a3a49ab"/>
    <p:sldId xmlns:r="http://schemas.openxmlformats.org/officeDocument/2006/relationships" id="259" r:id="R26e00532444e4c9b"/>
    <p:sldId xmlns:r="http://schemas.openxmlformats.org/officeDocument/2006/relationships" id="260" r:id="R44c4d4e55a9d477e"/>
    <p:sldId xmlns:r="http://schemas.openxmlformats.org/officeDocument/2006/relationships" id="261" r:id="R2264bd73e4264969"/>
    <p:sldId xmlns:r="http://schemas.openxmlformats.org/officeDocument/2006/relationships" id="262" r:id="R954344ed382842de"/>
    <p:sldId xmlns:r="http://schemas.openxmlformats.org/officeDocument/2006/relationships" id="263" r:id="R0c464664f43b489e"/>
    <p:sldId xmlns:r="http://schemas.openxmlformats.org/officeDocument/2006/relationships" id="264" r:id="R693dc7ef71ba4670"/>
    <p:sldId xmlns:r="http://schemas.openxmlformats.org/officeDocument/2006/relationships" id="265" r:id="R9025aa44c77c43e3"/>
    <p:sldId xmlns:r="http://schemas.openxmlformats.org/officeDocument/2006/relationships" id="266" r:id="R74457a214ec04769"/>
    <p:sldId xmlns:r="http://schemas.openxmlformats.org/officeDocument/2006/relationships" id="267" r:id="Rc2faff98853f40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842758624d4152" /><Relationship Type="http://schemas.openxmlformats.org/officeDocument/2006/relationships/slideMaster" Target="/ppt/slideMasters/slideMaster1.xml" Id="Red8cbaf8b2d54329" /><Relationship Type="http://schemas.openxmlformats.org/officeDocument/2006/relationships/notesMaster" Target="/ppt/notesMasters/notesMaster1.xml" Id="Rbde16fff8e2a4ba7" /><Relationship Type="http://schemas.openxmlformats.org/officeDocument/2006/relationships/presProps" Target="/ppt/presProps.xml" Id="R031c6c0114444490" /><Relationship Type="http://schemas.openxmlformats.org/officeDocument/2006/relationships/tableStyles" Target="/ppt/tableStyles.xml" Id="Rc1c2b2bc37dd4bda" /><Relationship Type="http://schemas.openxmlformats.org/officeDocument/2006/relationships/slide" Target="/ppt/slides/slide1.xml" Id="R02741d4fc2884c52" /><Relationship Type="http://schemas.openxmlformats.org/officeDocument/2006/relationships/slide" Target="/ppt/slides/slide2.xml" Id="Rac626960bb014e3b" /><Relationship Type="http://schemas.openxmlformats.org/officeDocument/2006/relationships/slide" Target="/ppt/slides/slide3.xml" Id="Raab15df06a3a49ab" /><Relationship Type="http://schemas.openxmlformats.org/officeDocument/2006/relationships/slide" Target="/ppt/slides/slide4.xml" Id="R26e00532444e4c9b" /><Relationship Type="http://schemas.openxmlformats.org/officeDocument/2006/relationships/slide" Target="/ppt/slides/slide5.xml" Id="R44c4d4e55a9d477e" /><Relationship Type="http://schemas.openxmlformats.org/officeDocument/2006/relationships/slide" Target="/ppt/slides/slide6.xml" Id="R2264bd73e4264969" /><Relationship Type="http://schemas.openxmlformats.org/officeDocument/2006/relationships/slide" Target="/ppt/slides/slide7.xml" Id="R954344ed382842de" /><Relationship Type="http://schemas.openxmlformats.org/officeDocument/2006/relationships/slide" Target="/ppt/slides/slide8.xml" Id="R0c464664f43b489e" /><Relationship Type="http://schemas.openxmlformats.org/officeDocument/2006/relationships/slide" Target="/ppt/slides/slide9.xml" Id="R693dc7ef71ba4670" /><Relationship Type="http://schemas.openxmlformats.org/officeDocument/2006/relationships/slide" Target="/ppt/slides/slide10.xml" Id="R9025aa44c77c43e3" /><Relationship Type="http://schemas.openxmlformats.org/officeDocument/2006/relationships/slide" Target="/ppt/slides/slide11.xml" Id="R74457a214ec04769" /><Relationship Type="http://schemas.openxmlformats.org/officeDocument/2006/relationships/slide" Target="/ppt/slides/slide12.xml" Id="Rc2faff98853f40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9928008c86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5a48ebfa54bc7" /><Relationship Type="http://schemas.openxmlformats.org/officeDocument/2006/relationships/notesMaster" Target="/ppt/notesMasters/notesMaster1.xml" Id="R31247ef7b3d44d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3deeda81c4a7b" /><Relationship Type="http://schemas.openxmlformats.org/officeDocument/2006/relationships/notesMaster" Target="/ppt/notesMasters/notesMaster1.xml" Id="Ra801aba18f634c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d788756c454cb1" /><Relationship Type="http://schemas.openxmlformats.org/officeDocument/2006/relationships/notesMaster" Target="/ppt/notesMasters/notesMaster1.xml" Id="Red75a93ec03f43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76f4cd85a4f3d" /><Relationship Type="http://schemas.openxmlformats.org/officeDocument/2006/relationships/notesMaster" Target="/ppt/notesMasters/notesMaster1.xml" Id="R8a192f9f1c1741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1aaf7037f246aa" /><Relationship Type="http://schemas.openxmlformats.org/officeDocument/2006/relationships/notesMaster" Target="/ppt/notesMasters/notesMaster1.xml" Id="R62fc48f786854c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a77ea2310f46cb" /><Relationship Type="http://schemas.openxmlformats.org/officeDocument/2006/relationships/notesMaster" Target="/ppt/notesMasters/notesMaster1.xml" Id="R8653f88bbcb548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8d5a950e404cc2" /><Relationship Type="http://schemas.openxmlformats.org/officeDocument/2006/relationships/notesMaster" Target="/ppt/notesMasters/notesMaster1.xml" Id="Re1769751a9ad4b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de4a536fa14db0" /><Relationship Type="http://schemas.openxmlformats.org/officeDocument/2006/relationships/notesMaster" Target="/ppt/notesMasters/notesMaster1.xml" Id="Rc456754eabd04c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34cfd0a0564bfb" /><Relationship Type="http://schemas.openxmlformats.org/officeDocument/2006/relationships/notesMaster" Target="/ppt/notesMasters/notesMaster1.xml" Id="R4c0df440ebf04b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05217f8df47d6" /><Relationship Type="http://schemas.openxmlformats.org/officeDocument/2006/relationships/notesMaster" Target="/ppt/notesMasters/notesMaster1.xml" Id="R67f9338a414046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c46857af9a4fa6" /><Relationship Type="http://schemas.openxmlformats.org/officeDocument/2006/relationships/notesMaster" Target="/ppt/notesMasters/notesMaster1.xml" Id="Rdd1c8a11d73241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2cea7aab864ba0" /><Relationship Type="http://schemas.openxmlformats.org/officeDocument/2006/relationships/notesMaster" Target="/ppt/notesMasters/notesMaster1.xml" Id="R5458703c3896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开场只讲一个命题：在高风险流程里，答案不是终点；行动必须先经过可复核的证据与人工门。强调本稿展示的是参考控制层与本地合成 Demo，不是已运行的六 Worker 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docs/09_SEMIFINAL_DEMO_RUNBOOK.md</a:t>
            </a:r>
          </a:p>
          <a:p xmlns:a="http://schemas.openxmlformats.org/drawingml/2006/main">
            <a:r>
              <a:t>- Screenshot: locally captured PUBLIC_SYNTHETIC loopback demo on 2026-08-21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说明场景选择的工程意义：劳动争议预审包含证据、时效规则、确定性计算和人工责任边界。当前不声称法律准确率或市场验证，只证明控制问题可被编码与验真。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docs/00_STATUS_AND_SCOPE.md</a:t>
            </a:r>
          </a:p>
          <a:p xmlns:a="http://schemas.openxmlformats.org/drawingml/2006/main">
            <a:r>
              <a:t>- docs/02_SECURITY_AND_HUMAN_GATE.md</a:t>
            </a:r>
          </a:p>
          <a:p xmlns:a="http://schemas.openxmlformats.org/drawingml/2006/main">
            <a:r>
              <a:t>- examples/cases/happy_path/ (PUBLIC_SYNTHETIC fixture)</a:t>
            </a:r>
          </a:p>
          <a:p xmlns:a="http://schemas.openxmlformats.org/drawingml/2006/main">
            <a:r>
              <a:t>- research/frontier_sources.json: CL-AUTONOMY-RISK, CL-SIMPLE-COMPOSABLE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明确责任边界：AgentTeams 提供协作运行时，ProofFlow 在应用层实现领域对象、状态机、审批摘要与 verifier。不要把 AgentTeams 原生能力和 ProofFlow 应用层能力混写，也不要把 Manager operator smoke 说成 Worker 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docs/01_TECHNICAL_DESIGN.md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src/proofflow/models.py</a:t>
            </a:r>
          </a:p>
          <a:p xmlns:a="http://schemas.openxmlformats.org/drawingml/2006/main">
            <a:r>
              <a:t>- src/proofflow/reference_runtime.py</a:t>
            </a:r>
          </a:p>
          <a:p xmlns:a="http://schemas.openxmlformats.org/drawingml/2006/main">
            <a:r>
              <a:t>- deploy/agentteams/evidence/mcp-manager-operator-smoke-2026-08-20.json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按演示顺序讲：Prepare 停在 AWAITING_APPROVAL；故意点击 package 得到 409 且 0 文件；输入理由后服务端固定 legal-reviewer 与 LOCAL_DEMO；Package 生成 2 文件；Verify 检查 25 个 artifacts 与 2 个文件并返回 valid。VALID 只指结构完整性，不是法律判断正确。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docs/09_SEMIFINAL_DEMO_RUNBOOK.md</a:t>
            </a:r>
          </a:p>
          <a:p xmlns:a="http://schemas.openxmlformats.org/drawingml/2006/main">
            <a:r>
              <a:t>- tests/e2e/test_demo_server.py</a:t>
            </a:r>
          </a:p>
          <a:p xmlns:a="http://schemas.openxmlformats.org/drawingml/2006/main">
            <a:r>
              <a:t>- demo/server.py</a:t>
            </a:r>
          </a:p>
          <a:p xmlns:a="http://schemas.openxmlformats.org/drawingml/2006/main">
            <a:r>
              <a:t>- Screenshot: locally captured PUBLIC_SYNTHETIC loopback demo on 2026-08-21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逐步解释对象链：Evidence 带 source refs；Rule 带目录版本与适用范围；Calculation 重放确定性公式；Proposal/Audit 绑定输入；Approval 绑定 subject hash；Package 再独立校验。强调 SHA-256 不是签名。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src/proofflow/models.py</a:t>
            </a:r>
          </a:p>
          <a:p xmlns:a="http://schemas.openxmlformats.org/drawingml/2006/main">
            <a:r>
              <a:t>- src/proofflow/canonical.py</a:t>
            </a:r>
          </a:p>
          <a:p xmlns:a="http://schemas.openxmlformats.org/drawingml/2006/main">
            <a:r>
              <a:t>- src/proofflow/state_machine.py</a:t>
            </a:r>
          </a:p>
          <a:p xmlns:a="http://schemas.openxmlformats.org/drawingml/2006/main">
            <a:r>
              <a:t>- src/proofflow/reference_runtime.py</a:t>
            </a:r>
          </a:p>
          <a:p xmlns:a="http://schemas.openxmlformats.org/drawingml/2006/main">
            <a:r>
              <a:t>- docs/01_TECHNICAL_DESIGN.md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Gate 的核心不是出现一个审批按钮，而是审批记录绑定精确对象、角色与时效。批准后的 artifact、trace 或 package 一旦变化，旧批准不能继续授权。当前 LOCAL_DEMO 不代表 MFA、数字签名或真实组织身份。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src/proofflow/models.py</a:t>
            </a:r>
          </a:p>
          <a:p xmlns:a="http://schemas.openxmlformats.org/drawingml/2006/main">
            <a:r>
              <a:t>- src/proofflow/skills/approval.py</a:t>
            </a:r>
          </a:p>
          <a:p xmlns:a="http://schemas.openxmlformats.org/drawingml/2006/main">
            <a:r>
              <a:t>- src/proofflow/state_machine.py</a:t>
            </a:r>
          </a:p>
          <a:p xmlns:a="http://schemas.openxmlformats.org/drawingml/2006/main">
            <a:r>
              <a:t>- tests/e2e/test_reference_runtime.py</a:t>
            </a:r>
          </a:p>
          <a:p xmlns:a="http://schemas.openxmlformats.org/drawingml/2006/main">
            <a:r>
              <a:t>- docs/02_SECURITY_AND_HUMAN_GATE.md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 Identity 是权限和责任合同，不是为了凑 Agent 数量。八个 Skill 的仓库、Manager 源与 Worker storage 副本哈希一致，但 Worker 没有运行，因此不能说已消费 Skill。Strategy 当前没有分发 Skill，是公开的设计差距。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specs/06_AGENT_IDENTITY.yaml</a:t>
            </a:r>
          </a:p>
          <a:p xmlns:a="http://schemas.openxmlformats.org/drawingml/2006/main">
            <a:r>
              <a:t>- specs/07_SKILL_SPEC.yaml</a:t>
            </a:r>
          </a:p>
          <a:p xmlns:a="http://schemas.openxmlformats.org/drawingml/2006/main">
            <a:r>
              <a:t>- deploy/agentteams/evidence/mcp-manager-operator-smoke-2026-08-20.json: skill_distribution</a:t>
            </a:r>
          </a:p>
          <a:p xmlns:a="http://schemas.openxmlformats.org/drawingml/2006/main">
            <a:r>
              <a:t>- tests/contract/test_agentteams_assets.py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这是答辩可信度页。左侧只说已经有点时机器证据的 Manager 操作员链和 ACL；右侧主动展示 Stopped、0 ready、0 containers、无 LLM/Human receipt。Team controller Active 只是 CR/reconcile 状态，不是业务可运行。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deploy/agentteams/evidence/mcp-manager-operator-smoke-2026-08-20.json</a:t>
            </a:r>
          </a:p>
          <a:p xmlns:a="http://schemas.openxmlformats.org/drawingml/2006/main">
            <a:r>
              <a:t>- deploy/agentteams/evidence/local-infra-smoke-2026-08-20.json</a:t>
            </a:r>
          </a:p>
          <a:p xmlns:a="http://schemas.openxmlformats.org/drawingml/2006/main">
            <a:r>
              <a:t>- docs/00_STATUS_AND_SCOPE.md</a:t>
            </a:r>
          </a:p>
          <a:p xmlns:a="http://schemas.openxmlformats.org/drawingml/2006/main">
            <a:r>
              <a:t>- docs/10_EVALUATION_PROTOCOL.md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11/11 不是安全率或法律准确率，而是冻结的 11 个结构合同都满足。逐类说明错误会在哪里 fail closed。parser instruction 场景没有调用 LLM，不能当作 prompt injection 防御证明。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benchmarks/scenarios.json</a:t>
            </a:r>
          </a:p>
          <a:p xmlns:a="http://schemas.openxmlformats.org/drawingml/2006/main">
            <a:r>
              <a:t>- benchmarks/suite.py</a:t>
            </a:r>
          </a:p>
          <a:p xmlns:a="http://schemas.openxmlformats.org/drawingml/2006/main">
            <a:r>
              <a:t>- tests/benchmark/test_public_contract_suite.py</a:t>
            </a:r>
          </a:p>
          <a:p xmlns:a="http://schemas.openxmlformats.org/drawingml/2006/main">
            <a:r>
              <a:t>- docs/06_PUBLIC_BENCHMARK.md</a:t>
            </a:r>
          </a:p>
          <a:p xmlns:a="http://schemas.openxmlformats.org/drawingml/2006/main">
            <a:r>
              <a:t>- docs/09_SEMIFINAL_DEMO_RUNBOOK.md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解释为什么主动保留 UNKNOWN：协议只在 Worker execution、LLM inference、task/Matrix/MCP/Skill/Human receipts 与完整 provenance 齐全时允许结果进入 PASS/FAIL。缺证据不是 0；越权后仍产生可用结果是 UNSAFE_SUCCESS。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docs/10_EVALUATION_PROTOCOL.md</a:t>
            </a:r>
          </a:p>
          <a:p xmlns:a="http://schemas.openxmlformats.org/drawingml/2006/main">
            <a:r>
              <a:t>- benchmarks/evaluation/scenarios.json</a:t>
            </a:r>
          </a:p>
          <a:p xmlns:a="http://schemas.openxmlformats.org/drawingml/2006/main">
            <a:r>
              <a:t>- benchmarks/evaluation/evaluation-report.schema.json</a:t>
            </a:r>
          </a:p>
          <a:p xmlns:a="http://schemas.openxmlformats.org/drawingml/2006/main">
            <a:r>
              <a:t>- tests/benchmark/test_evaluation_contracts.py</a:t>
            </a:r>
          </a:p>
          <a:p xmlns:a="http://schemas.openxmlformats.org/drawingml/2006/main">
            <a:r>
              <a:t>- research/frontier_sources.json: CL-EVAL-HARNESS-BUDGET, CL-MULTIAGENT-FAILURES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先说明官方 25/25/25/20/5 只是权重，不是当前得分。再展示可复验资产：366 个 pytest、300/300 本地 HTTP、SBOM 与点时扫描、当前镜像三方 ID 绑定、公开仓库。零 finding 不等于 clean、安全认证或未来无漏洞。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</a:t>
            </a:r>
          </a:p>
          <a:p xmlns:a="http://schemas.openxmlformats.org/drawingml/2006/main">
            <a:r>
              <a:t>- https://oss.goaihz.com/prod/20260720/6e21b053-f18b-4857-83e2-835bd96d5434.pdf</a:t>
            </a:r>
          </a:p>
          <a:p xmlns:a="http://schemas.openxmlformats.org/drawingml/2006/main">
            <a:r>
              <a:t>- research/frontier_sources.json: official_rubric</a:t>
            </a:r>
          </a:p>
          <a:p xmlns:a="http://schemas.openxmlformats.org/drawingml/2006/main">
            <a:r>
              <a:t>- .github/workflows/ci.yml</a:t>
            </a:r>
          </a:p>
          <a:p xmlns:a="http://schemas.openxmlformats.org/drawingml/2006/main">
            <a:r>
              <a:t>- deploy/tool-service/evidence/supply-chain-evidence.json</a:t>
            </a:r>
          </a:p>
          <a:p xmlns:a="http://schemas.openxmlformats.org/drawingml/2006/main">
            <a:r>
              <a:t>- benchmarks/performance/reports/local-in-process-2026-08-20.json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收束不说项目已经完成。今天已经证明的是控制面；下一硬门按安全顺序执行：撤销旧凭据并私密安装新凭据、单 Leader 真运行、Leader+5 specialists、再做 14 场景配对评测。只让 receipts 打开结果门。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docs/00_STATUS_AND_SCOPE.md</a:t>
            </a:r>
          </a:p>
          <a:p xmlns:a="http://schemas.openxmlformats.org/drawingml/2006/main">
            <a:r>
              <a:t>- docs/02_SECURITY_AND_HUMAN_GATE.md</a:t>
            </a:r>
          </a:p>
          <a:p xmlns:a="http://schemas.openxmlformats.org/drawingml/2006/main">
            <a:r>
              <a:t>- docs/04_CHAMPIONSHIP_EXECUTION_PLAN.md</a:t>
            </a:r>
          </a:p>
          <a:p xmlns:a="http://schemas.openxmlformats.org/drawingml/2006/main">
            <a:r>
              <a:t>- docs/10_EVALUATION_PROTOCOL.md</a:t>
            </a:r>
          </a:p>
          <a:p xmlns:a="http://schemas.openxmlformats.org/drawingml/2006/main">
            <a:r>
              <a:t>- https://github.com/MyGarfield/ProofFlow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8afefaef94a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a73157265b4884" /><Relationship Type="http://schemas.openxmlformats.org/officeDocument/2006/relationships/slideLayout" Target="/ppt/slideLayouts/slideLayout1.xml" Id="R535bdd646937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5bdd646937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f5c51e8d64e7d" /><Relationship Type="http://schemas.openxmlformats.org/officeDocument/2006/relationships/image" Target="/ppt/media/image.png" Id="Rd9c1c391e8c3425f" /><Relationship Type="http://schemas.openxmlformats.org/officeDocument/2006/relationships/notesSlide" Target="/ppt/notesSlides/notesSlide1.xml" Id="R1e5cde4e665f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b18c6625e497f" /><Relationship Type="http://schemas.openxmlformats.org/officeDocument/2006/relationships/notesSlide" Target="/ppt/notesSlides/notesSlide2.xml" Id="R378b9ef59a334a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85cce86eb4685" /><Relationship Type="http://schemas.openxmlformats.org/officeDocument/2006/relationships/notesSlide" Target="/ppt/notesSlides/notesSlide3.xml" Id="R180d143ed89649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3a3c3a48a447b" /><Relationship Type="http://schemas.openxmlformats.org/officeDocument/2006/relationships/image" Target="/ppt/media/image2.png" Id="R03a08e1690b44773" /><Relationship Type="http://schemas.openxmlformats.org/officeDocument/2006/relationships/image" Target="/ppt/media/image3.png" Id="R53e89c2fd4cc4632" /><Relationship Type="http://schemas.openxmlformats.org/officeDocument/2006/relationships/notesSlide" Target="/ppt/notesSlides/notesSlide4.xml" Id="Raef7a5b1460047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98e9ee4b94669" /><Relationship Type="http://schemas.openxmlformats.org/officeDocument/2006/relationships/notesSlide" Target="/ppt/notesSlides/notesSlide5.xml" Id="R9e28280aac55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8adb95eec4365" /><Relationship Type="http://schemas.openxmlformats.org/officeDocument/2006/relationships/notesSlide" Target="/ppt/notesSlides/notesSlide6.xml" Id="Rfb5099ff6eaa4c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24c03d04d4de1" /><Relationship Type="http://schemas.openxmlformats.org/officeDocument/2006/relationships/notesSlide" Target="/ppt/notesSlides/notesSlide7.xml" Id="R40316c59801b47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57ec012504031" /><Relationship Type="http://schemas.openxmlformats.org/officeDocument/2006/relationships/notesSlide" Target="/ppt/notesSlides/notesSlide8.xml" Id="R818f96323ade40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99dda5a1c4052" /><Relationship Type="http://schemas.openxmlformats.org/officeDocument/2006/relationships/notesSlide" Target="/ppt/notesSlides/notesSlide9.xml" Id="R39a9d1de75d64c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12429e1c142ec" /><Relationship Type="http://schemas.openxmlformats.org/officeDocument/2006/relationships/notesSlide" Target="/ppt/notesSlides/notesSlide10.xml" Id="R1e55b95a5c8248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a068f416740ed" /><Relationship Type="http://schemas.openxmlformats.org/officeDocument/2006/relationships/notesSlide" Target="/ppt/notesSlides/notesSlide11.xml" Id="Rea36b532f35f41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addb86f91483d" /><Relationship Type="http://schemas.openxmlformats.org/officeDocument/2006/relationships/notesSlide" Target="/ppt/notesSlides/notesSlide12.xml" Id="Re19622dec11d43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0FC54-E2A6-48F2-A41F-2056CCA4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74FEE-3397-478D-BE14-B0E4325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GOAI 2026 · AGENT INFRA / 新智基座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A6991-ECC4-4981-8C49-B3943E3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让高风险 Agent
</a:t>
            </a:r>
            <a:r>
              <a:rPr sz="4350" b="1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在行动前提交证据</a:t>
            </a:r>
            <a:r>
              <a:rPr sz="4350" b="1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4E6A3-12CD-41E4-864D-D1AE2F2D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ProofFlow：证据驱动的高风险决策多 Agent 协同基座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BE242-9813-4874-8127-A5F5D337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266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5B"/>
          </a:solidFill>
          <a:ln xmlns:a="http://schemas.openxmlformats.org/drawingml/2006/main" w="12383">
            <a:solidFill>
              <a:srgbClr val="168B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2A7E2-EB43-4280-9DDD-5BA0228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REFERENCE CORE 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1304E-AFF8-4A85-8AEB-0A472A03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800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D5B8E-D451-4B56-A854-A42AEF1E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005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WORKER EVAL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9D9B7-105B-4FB0-95C4-ADE2FC01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可证智能 VeriAgent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054ED-4504-469A-995A-DE0FB5B7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复赛候选稿 · 2026.08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B1EE6-EB64-41F8-89CB-1B05D94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28700"/>
            <a:ext cx="4762500" cy="3733800"/>
          </a:xfrm>
          <a:prstGeom xmlns:a="http://schemas.openxmlformats.org/drawingml/2006/main" prst="roundRect">
            <a:avLst>
              <a:gd name="adj" fmla="val 66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1c391e8c3425f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257300"/>
            <a:ext cx="4343400" cy="32575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0C07B-40FB-4218-9038-E9FA76C6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真实本地 Demo / PUBLIC SYNTHETIC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4A1D0-FD90-4A44-B8E2-6D0BED9C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68D7B-2ECF-42A9-928D-86A56ED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github.com/MyGarfield/ProofFlow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ABFCE-5AB0-4BCF-AAA2-AA75A106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246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875932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F6BE1-8D80-4FF4-95CE-B91DAE5D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BD90B-81DC-4FF0-9125-4E4BBA7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CAEF9-6D83-4E1E-B3B3-44780A9B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WHY / SCENE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5A6AF-76A3-46F6-AD68-D483175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70FC2-6637-4FA9-B2A3-2E745D61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E8A1F-1DDD-4062-BAA3-22E800EC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4FEE3-03E0-4EDF-9351-4B5F49A7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答错只是风险的开始；无法复核的动作才不可接受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C8C1F-5027-4936-95F6-6833FAE2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首个验证场景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39775-BBC2-4D72-9BD0-FE2580FE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劳动争议内部预审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F4898-FCD9-4579-9794-5E8CA92C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同一份解除事实，若证据、规则、计算口径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和批准对象不能复核，生成得再流畅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也无法承担责任。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2DB18-B182-478D-B73C-7AA41CDF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866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5A713-22FA-43EA-A923-B02DDAA3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PUBLIC SYNTHETIC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744EF-1C88-468A-AF78-0270846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不代表真实客户、法律准确率或 ROI 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1108D-138F-4A82-832E-91EB34C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381250" cy="312420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E62E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9748B-9857-4873-BA1B-23EA10D9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黑箱回答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025AD-1138-4EB6-814B-97812760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037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“看起来合理”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38677-B70A-461B-9260-C9C4F648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来源不可追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口径不可重放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批准对象不明确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CFA4D-7149-4B58-A138-FE0AF2A6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2422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EFAE-F8EC-4E6E-A0E0-D44FAFB2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90875"/>
            <a:ext cx="28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DCE55-2E0C-42DA-9788-F166D96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00250"/>
            <a:ext cx="2305050" cy="3124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64C8C-5D64-4BED-B4AA-81CDFFA8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可审计交付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38DD7-B743-4957-8F31-F855F0F1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03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“能被独立复核”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1909B-0D4B-4B3A-A7E0-1A488357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43300"/>
            <a:ext cx="1695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证据有引用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规则有版本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批准绑定对象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00FE1-A215-4588-AE6B-A26EDBF6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F6F13-DA3D-4027-8391-E164369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产品目标：把“答案质量”升级为“可验证的责任闭环”</a:t>
            </a:r>
          </a:p>
        </p:txBody>
      </p:sp>
    </p:spTree>
    <p:extLst>
      <p:ext uri="{BB962C8B-B14F-4D97-AF65-F5344CB8AC3E}">
        <p14:creationId xmlns:p14="http://schemas.microsoft.com/office/powerpoint/2010/main" val="1968125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99D957-EB17-4490-9DB6-131BFBCE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235F0-7DEA-4A29-B575-9417CDFE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87CE7-3E2D-4B1D-8BE8-AE685839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WHAT /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89454-8CD5-4914-B9D0-7A249B2B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9734-E094-49DD-90D1-94D6C6CD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56BC2-810E-43F4-83CA-D513DC2A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1F9D1-6A96-4769-88E4-6B4B4B37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 是证据与控制层，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不替代模型与 AgentTeams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5A2E6-40B1-461F-84B6-0548511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9753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BA2BE-01A8-472E-95D1-F623A2B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业务人与领域流程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960A4-47F8-4340-A0C6-C6045CF9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Reviewer · Approver · 决策责任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F8A9A-937D-4E9D-8D0B-25655DC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95525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383">
            <a:solidFill>
              <a:srgbClr val="1018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29CEB-05D0-4A84-8EBD-19B0C4EF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DOMAIN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362F9-2EB3-461C-8B74-BA953296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97536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A0974-BF1B-4E91-B0DA-917B9CBE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7660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ProofFlow Proof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566CE-B41A-4EA4-ACCA-855E9A43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Evidence · Rule · Calculation · State · Human Gate · Trace · 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226AE-F99E-473D-AA74-10373C59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48075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5B"/>
          </a:solidFill>
          <a:ln xmlns:a="http://schemas.openxmlformats.org/drawingml/2006/main" w="12383">
            <a:solidFill>
              <a:srgbClr val="168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5D472-1341-4DD8-B264-31491A91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BFACE-6389-4CD8-A332-E9183EBB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9753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6ED01-B3C3-4E52-BE7D-35116AEC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AgentTeams / Model /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AA6D7-816C-4669-BFB6-BC89DBE7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101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团队生命周期 · 任务与 Matrix · Worker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CFD58-81BB-43C1-9276-26FA1DEF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00625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800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BA13A-DC5B-430E-92B4-D33C638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292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PARTIAL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FAFF3-7DD1-4992-8805-E210FBFC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已实现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8BAA9-A497-4D62-99CF-3BDFE63E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5B"/>
          </a:solidFill>
          <a:ln xmlns:a="http://schemas.openxmlformats.org/drawingml/2006/main" w="9525">
            <a:solidFill>
              <a:srgbClr val="168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572BC-419A-45E8-8168-9F4E9A00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895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5C195-5D8F-4D03-A473-5E9CD5A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2006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9525">
            <a:solidFill>
              <a:srgbClr val="C7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E92C5-0BD3-4250-8556-05D1129F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48350"/>
            <a:ext cx="975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控制面 + Manager operator smoke；Worker/LLM 运行仍为 UNKNOWN</a:t>
            </a:r>
          </a:p>
        </p:txBody>
      </p:sp>
    </p:spTree>
    <p:extLst>
      <p:ext uri="{BB962C8B-B14F-4D97-AF65-F5344CB8AC3E}">
        <p14:creationId xmlns:p14="http://schemas.microsoft.com/office/powerpoint/2010/main" val="1453243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91479-6707-4BB2-8F7A-6C7F6661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19765-A984-4A87-90EE-F7DB5426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066CD-2EEA-4DE3-91DE-0AA4EA08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PROOF /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C7E74-271E-4CBE-B22F-94FA9DB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33B57-A8DD-4110-8BC3-344B154A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04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6DA8E-9608-48AA-BDC9-7602F00D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B85C0-0DB7-4DC5-BA34-8A963E72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同一条链路：批准前 409，批准后才 VALID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E9094-E2A1-4290-9983-A205388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现场可在 90 秒内复现；两张图均来自本地 PUBLIC_SYNTHETIC 控制台。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9CC55-16F8-4A61-85C5-D3EFF5FE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276850" cy="3409950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E62E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AAEF0-AE11-4E04-9BEE-8B59E878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981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2E2E"/>
          </a:solidFill>
          <a:ln xmlns:a="http://schemas.openxmlformats.org/drawingml/2006/main" w="12383">
            <a:solidFill>
              <a:srgbClr val="E62E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18310-053E-4561-8B1F-7AC844B2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BEFORE · FAIL CLOSED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08e1690b44773"/>
          <a:srcRect xmlns:a="http://schemas.openxmlformats.org/drawingml/2006/main" l="0" t="2616" r="0" b="2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628900"/>
            <a:ext cx="4895850" cy="2609850"/>
          </a:xfrm>
          <a:prstGeom xmlns:a="http://schemas.openxmlformats.org/drawingml/2006/main" prst="roundRect">
            <a:avLst>
              <a:gd name="adj" fmla="val 510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6BBB3-6F64-45E2-B528-E53398FE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409 / HUMAN_GATE_REQUIRED · package files =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F837-81DD-48DF-AF26-F60995C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5276850" cy="3409950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A2046-168B-4FDA-AA5F-C3CAE0A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2152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F9AD2-CC64-4312-BEBD-FFDC1BBA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AFTER · INTEGRITY VALID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89c2fd4cc4632"/>
          <a:srcRect xmlns:a="http://schemas.openxmlformats.org/drawingml/2006/main" l="0" t="2616" r="0" b="2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628900"/>
            <a:ext cx="4895850" cy="2609850"/>
          </a:xfrm>
          <a:prstGeom xmlns:a="http://schemas.openxmlformats.org/drawingml/2006/main" prst="roundRect">
            <a:avLst>
              <a:gd name="adj" fmla="val 510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62102-D045-4C01-B5D6-FAB56A80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435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2 package files · 25 artifacts · verification valid=true</a:t>
            </a:r>
          </a:p>
        </p:txBody>
      </p:sp>
    </p:spTree>
    <p:extLst>
      <p:ext uri="{BB962C8B-B14F-4D97-AF65-F5344CB8AC3E}">
        <p14:creationId xmlns:p14="http://schemas.microsoft.com/office/powerpoint/2010/main" val="61936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8B4FE9-3D69-4F24-A8CE-7F09D1FF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F17B1-EADF-4C5C-BF47-4EC80B72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7D59E-D548-4DCE-B9E3-B954EC67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MECHANISM /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BF48-6457-4CD2-A722-469048B8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3FA09-0D30-410D-9123-E8BF19F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B350-D550-4442-B0C5-F88A3619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C2C76-295B-4E38-9E5B-3A6BB959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每个结论都必须带着来源与版本进入下一步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F6904-2624-4F50-9461-CC6F2EFD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43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6963D-A0A6-4600-AFC8-36761B3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4800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1808F-D3E0-4523-9AF5-52836EA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EE3D-CBE7-4E4C-A497-5024D366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78113-60E2-4F53-953E-826E9830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3FB54-BFFA-4013-AD93-BEED272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34FBF-B163-43DF-A1C7-2500C084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8C244-3744-4351-BEBC-3E6A2EB5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4800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46995-C57E-4A5C-84C8-1768EC00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66C4-8739-447B-BB6F-DAFE020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EF722-AA60-4462-9D07-B94BFA0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43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FF02F-DBD8-4273-92D5-A2D04077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4800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B9E5E-50F5-4EE9-8515-870E956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3525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349E6-FB88-42ED-B22C-ABA8EA7D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C03BB-06E6-4517-95E3-D864816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证据对象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9B8B0-73B7-4328-8285-28FD7495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47950"/>
            <a:ext cx="13525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D8FF4-6CE9-477D-BE7F-0A1852F6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C27A4-8672-42B8-A99C-392E881C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规则引用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96163-2DC9-47C8-8F30-87EFED5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13525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2E06C-C3EF-47FC-A28A-A48F058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CALCULATE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C4AC8-A96D-4988-A35C-7F942CA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确定性计算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DEF72-5A7D-4961-93A7-9A41E969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13525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AC3739-93F3-436A-9897-F812FDB9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PROPOSAL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671D8-0998-41F0-9A5B-279B2151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38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候选结论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0F966D-E53D-46C3-B54E-6664B720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47950"/>
            <a:ext cx="13525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34126-5E5B-41E6-9ACA-D0D0C38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E3B9FB-8DCA-4840-9435-A3FC0A70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冲突审计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9EAEBD-0642-4937-B985-A559BB5D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13525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5E447C-64C3-415E-944A-03E4EE21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2F33BB-6841-4EDA-B750-8689FA7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人工批准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6E07D3-CF7E-4B26-915F-B7849495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47950"/>
            <a:ext cx="13525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12383">
            <a:solidFill>
              <a:srgbClr val="168B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C69F23-9E85-4487-BAF4-127E8564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PACKAGE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9CFFE-06E1-4711-82BC-685AC878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交付与验真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5AB29E-5061-45A9-A34B-993ED883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9791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D2110E-0F87-4860-AF4A-8E664DCC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每一步都校验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00ABB4-746F-4654-8CA1-A2EAAA8C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72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tenant / case / trace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D7BF77-AA25-45EF-B3EB-3ACEDED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720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source_refs / catalog version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BE3318-1227-4177-9B5A-715A1B81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72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input / output hash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21AE53-D013-4D81-870F-515284AF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908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C04478-2707-44E7-AA4F-18875ABD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00650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普通 SHA-256 seal 只证明内容一致，不是签名；可信来源仍依赖受控 Artifact Store 与身份边界。</a:t>
            </a:r>
          </a:p>
        </p:txBody>
      </p:sp>
    </p:spTree>
    <p:extLst>
      <p:ext uri="{BB962C8B-B14F-4D97-AF65-F5344CB8AC3E}">
        <p14:creationId xmlns:p14="http://schemas.microsoft.com/office/powerpoint/2010/main" val="16977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04BE7-A6E2-42C8-AD9A-7F4D81CC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DD4C9-8768-46E4-B7E4-60FECBFC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1ABF5-635E-4086-AECB-4D456FD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GOVERN / HUMAN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2FEE2-6CC4-4DA9-A847-F32B2103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331EB-1115-4489-AFD6-1CC623E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0C7FC-7322-4E1F-A896-6E2FF83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3FE10-795E-468E-9A1B-98D62B1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Gate 批准的是精确 subject hash，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而不是泛化“同意”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20414-71A0-409F-A364-4F725D2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572000" cy="3333750"/>
          </a:xfrm>
          <a:prstGeom xmlns:a="http://schemas.openxmlformats.org/drawingml/2006/main" prst="roundRect">
            <a:avLst>
              <a:gd name="adj" fmla="val 742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383">
            <a:solidFill>
              <a:srgbClr val="1018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CFC14-9E1B-4E19-B7D6-C72A8F4A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rPr>
              <a:t>APPROVAL SUBJECT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E23D6-023C-4FEB-95FF-FDCB2D99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sha256: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B95D0-723A-4FA4-B63C-406358C5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3733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9509706aa5e62120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778326ed5ccd9bde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c023fdc213a20e30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73b297b5dbed5a80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DB2C1-21B9-4708-AA26-A9D80AAC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2781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D213A-24BB-421F-B8AA-6572ED8E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672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BOUND TO CURRENT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D84E2-B5A5-4926-9994-B4612B83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AF8D9-B47D-4008-9761-86D5966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35C0B-C485-4964-8511-6A1DB87E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legal-reviewer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BBF15-91DA-40EC-A829-B520793C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0F037-5640-43A2-B2D3-ED6D8C86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088C7-EDAF-41B1-88FF-7438850F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F0AFA-73DB-4B5F-A921-4CF4A684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APPROVE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4C0A6-0DE9-4CEB-B115-47D813EE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1A878-2AE1-43F7-9600-6569F26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69D54-A95C-460B-ACE4-AAE8D32D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时效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882B1-1BD9-447A-BDAE-9A00ED65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within expires_at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A165C-6F39-4B86-BBFF-2CDC1401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18DCD-BA61-4AEE-8F57-8363B073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D84E8-A9DA-49C7-B0B1-A1AEFAB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对象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A9DE8-1FA3-4F69-92FB-24282EF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exact subject_hash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C57F2-63CC-490C-9197-3319B9BB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2445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F5CA3-9530-4453-8679-0F3D01F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49911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E62E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B286F-3CAE-49EF-A1FA-319F1245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673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对象发生变化 → 旧批准失效</a:t>
            </a:r>
          </a:p>
        </p:txBody>
      </p:sp>
    </p:spTree>
    <p:extLst>
      <p:ext uri="{BB962C8B-B14F-4D97-AF65-F5344CB8AC3E}">
        <p14:creationId xmlns:p14="http://schemas.microsoft.com/office/powerpoint/2010/main" val="1281357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3677E7-B9F5-4BBA-81ED-18DA5E85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DC514-1F1C-45FF-97BB-8AB9AB2E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7D896-B510-4173-8ED7-AD23A118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AGENTS / 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DC710-856B-4F9F-A4DD-10C48FE0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447AA-0F0B-4924-81D1-3C66D4F1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07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2AFE0-66C0-48A4-8B03-8CECF170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F604B-1F27-4116-AACF-10C13673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六个 Identity 管职责，八个 Skill 管可复用合同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2CE78-97DC-4FDA-AA82-C2FC4A97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IDENTITY / 职责边界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160D4-F122-4B19-8D2F-D059638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PF-A1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A22A3-D1BA-4878-A364-FFB4E8F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0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Case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1401F-7C14-4DEA-AB50-F28BD666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2 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0C5D1-CBE7-4D0D-A4A1-56CD71A1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25220-9052-46FB-9BE3-BC742F6C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PF-A2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EE813-8B79-4F23-BC49-D34ABA1A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2A564-CFFB-408E-81C3-00662028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2 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DEC3F-A90B-45EC-BC84-DC2B088E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828BB-07C8-424C-8B5B-1201B618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PF-A3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A6DF2-529F-469D-AF45-9F694D9D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Rule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9D653-8B67-4368-9D4D-DD6700D0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861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1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7BD78-26F4-4B8B-B44F-834CFC1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98841-B135-4874-9E7D-C942619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PF-A4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C13E3-2883-4061-B117-33400846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Calculation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671BF-D114-4CB2-A6BA-41590EB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1 skill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03465-7F71-4BA3-A5ED-3ECA56B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009E6-2759-4A5F-B5FB-EE2A34B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PF-A5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3FDA1-11AE-477C-80EA-809D31B8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Strategy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FD51D-5304-4B24-BB0B-ACA29B60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0 distributed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836BF0-BA95-49EA-8B2D-402F418F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2D209-70FD-4F89-8FC8-C1ADD213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PF-A6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1407B5-F7D9-494C-B6BC-9CC078AD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Audit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4E326-B9E2-483F-A29D-2565B395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2 skills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B12ED-849F-421E-9A27-617C8D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83FDE-FA43-492B-9D4C-1F0CD2F1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43100"/>
            <a:ext cx="5867400" cy="3600450"/>
          </a:xfrm>
          <a:prstGeom xmlns:a="http://schemas.openxmlformats.org/drawingml/2006/main" prst="roundRect">
            <a:avLst>
              <a:gd name="adj" fmla="val 582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FFF202-9931-426F-9746-6D8D9321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SKILL / I·O·FAILURE·SECURITY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7C5267-9DF0-4EFA-A0B1-84085709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90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DC714B-E0C5-4298-8BBA-A26357D7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evidence_ingest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5FBE88-636C-49BE-9773-DB5D6E76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B61B3-16BD-406C-A91C-86AF661A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90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3B8B7D-308B-4A06-A915-F7D4071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timeline_build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3D4803-C841-450A-9403-E72C15C8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B443ED-B013-4CAE-89CF-F79BF9B1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19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5EB4DF-45BB-46C1-B025-8CACADDE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rule_retrieve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25E55E-9E75-46FF-A640-02AFDB55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7190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5DC1D7-18F6-4AD6-8B75-CB5A35B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19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6E528A-8789-4DEA-ACDD-15FAC44D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90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deterministic_calculate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268E0E-21EB-4F35-A9C2-78B827BA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7190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BB8BB2-6BA2-42A4-B4D8-C4283BC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48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C2B57D-CE10-4B7B-9911-1665DFEE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conflict_detect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B28EC8-BDD1-4BD2-A467-C37A6EC8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4604EC-3D76-4C3E-A4B5-549B0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48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03388F-1934-4618-AEC5-D9C0A490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decision_audit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1A8AFD-AB67-4E08-869D-4FF95CE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005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34C6BE-C5AA-43A4-BCF9-D5776D9A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76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24D52D-9DA9-48D0-9453-DEE67779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human_approval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4342F7-3FF1-4A1B-9EDD-26B3A3B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2920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1F9667-51D4-4957-B03E-DE049201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76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086975-362B-4729-AAE6-97C6A132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48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document_package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453A70-278C-4958-AE2F-561A67BF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2920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0B37D5-3880-40DA-928D-D2D61567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383">
            <a:solidFill>
              <a:srgbClr val="10182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AE6B10-E696-4936-A0C6-353415A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Repo ↔ Manager ↔ Worker storage SHA-256：8 / 8 match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79FF6E-0DA2-41D4-A381-2CFFDE05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055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FCE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CE5C"/>
                </a:solidFill>
                <a:latin typeface="Arial Unicode MS"/>
                <a:ea typeface="Arial Unicode MS"/>
                <a:cs typeface="Arial Unicode MS"/>
              </a:rPr>
              <a:t>runtime consumption = false</a:t>
            </a:r>
          </a:p>
        </p:txBody>
      </p:sp>
    </p:spTree>
    <p:extLst>
      <p:ext uri="{BB962C8B-B14F-4D97-AF65-F5344CB8AC3E}">
        <p14:creationId xmlns:p14="http://schemas.microsoft.com/office/powerpoint/2010/main" val="444540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67A70A-E5A5-4B18-8E77-0E92A0D0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E5359-0EF6-4968-8CFA-762E38A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0DEE4-79F1-43D5-A902-323CACC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RUNTIME /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2A8D2-A753-47BD-9477-2388ADD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AC7D3-714E-4830-B2A6-D0CD4A21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F6195-E7E6-445A-A38A-8337670C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30860-0D31-486D-A0A8-0274F042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Control plane 已验证；业务 Team 仍未运行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791BC-9697-4BCF-9BF5-1398B80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76850" cy="3752850"/>
          </a:xfrm>
          <a:prstGeom xmlns:a="http://schemas.openxmlformats.org/drawingml/2006/main" prst="roundRect">
            <a:avLst>
              <a:gd name="adj" fmla="val 5584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12383">
            <a:solidFill>
              <a:srgbClr val="168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2FB7D-6535-4D82-86E2-B4CA193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324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5B"/>
          </a:solidFill>
          <a:ln xmlns:a="http://schemas.openxmlformats.org/drawingml/2006/main" w="12383">
            <a:solidFill>
              <a:srgbClr val="168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70445-4B28-4E06-A967-218BAAA2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VERIFIED POINT-IN-TIME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CF213-5100-40E8-BBCF-AC3A9AFB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9F9A1-44D2-41BC-9074-90BCBFD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962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1C45E-96AE-421E-A73C-3BA73C72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MCP servers · each 1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81DE0-91DD-4E73-AF5B-704953C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B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3E36D-E607-4CD2-8CE1-C0382019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200 / 403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CCA93-F1E0-47D0-A79C-34B4329F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least-privilege allow / deny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8A7EF-6102-42F2-93C7-D77A9E49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8B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77426-120B-4CC9-9B1F-F65FD86D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Manager operator synthetic chain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733F7-789D-401E-B649-E29C385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13 Evidence → 4 citations → 60000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FD259-5C61-4B98-8407-6797E93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resealed tamper → BLOCKED / UNTRUSTED_EVIDENCE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91D92-A1E4-4EDA-8365-84A8AD0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276850" cy="3752850"/>
          </a:xfrm>
          <a:prstGeom xmlns:a="http://schemas.openxmlformats.org/drawingml/2006/main" prst="roundRect">
            <a:avLst>
              <a:gd name="adj" fmla="val 5584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A892D-2EDF-4A8E-A8CE-F9201C82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800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FF24F-C7B8-48BB-820E-5D86D808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193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NOT OPERATIONALLY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22CC1-FB8F-46BF-8475-E3F0029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Workers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A133-8D46-4CCD-8717-0BE1BE9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43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6 × Stopped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324D6-CE30-4AC4-AF96-23A41CF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57525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7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D24E2-B54C-4992-9355-EF3A197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0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Leader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7B5A8-EC31-48A2-AD57-5DB2A12D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04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Stopped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4CB34-D817-45B2-8EFE-E529F04A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14725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7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CFCB4-EFFB-465C-B748-92AB70F9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readyWorkers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E253B7-1BD4-4D61-A838-5E1C4D0D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0 specialists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1F7003-BE8A-40FF-897F-9F556AAC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71925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7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99B86-FEEC-4B70-AFC7-A85DFA29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Worker containers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D55738-132A-44AB-8C97-DD2BDAFE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028765-96CA-473C-A723-5E0228EF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29125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7A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416906-B092-4F0C-A293-403CDFD1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Team controller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6F73F-DC10-4B4F-ACFF-7AF4E91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Active ≠ running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00928A-5EEC-49D5-8D02-D5F61D8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86325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7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763031-B521-4430-BFC8-C4F40C86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9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LLM / Human receipt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8AB748-41A7-4D33-B3F1-1CA25C86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29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not observed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9B542F-7F07-4878-ADBC-4BE3FABA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43525"/>
            <a:ext cx="459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7A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263778-0209-472E-A390-3E02F3F9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10200"/>
            <a:ext cx="481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Manager smoke 不能打开 single-agent 或 six-agent 评测门。</a:t>
            </a:r>
          </a:p>
        </p:txBody>
      </p:sp>
    </p:spTree>
    <p:extLst>
      <p:ext uri="{BB962C8B-B14F-4D97-AF65-F5344CB8AC3E}">
        <p14:creationId xmlns:p14="http://schemas.microsoft.com/office/powerpoint/2010/main" val="886842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4E2A1-10F0-4C2F-9457-2DE43231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3BC88-0ACA-45F9-B662-AB2DABD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4251E-4860-4D2C-9178-522ABAC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rPr>
              <a:t>RED TEAM / FAIL CLOSED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E6BA6-70BB-4697-82AC-1DFB297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4405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BE2D5-B689-4B0C-BED3-3E6F3CC4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 个公开合同证明系统会安全失败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B33A2-D5D4-4AD9-90C4-6DF1E5E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D0D5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D0D5DD"/>
                </a:solidFill>
                <a:latin typeface="Arial Unicode MS"/>
                <a:ea typeface="Arial Unicode MS"/>
                <a:cs typeface="Arial Unicode MS"/>
              </a:rPr>
              <a:t>严格闭集比较：预期阻断是 PASS，不安全条件仍产出才是失败。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528AE-522D-42EF-B753-CB36312A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FFCE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550" b="1">
                <a:solidFill>
                  <a:srgbClr val="FFCE5C"/>
                </a:solidFill>
                <a:latin typeface="Arial Unicode MS"/>
                <a:ea typeface="Arial Unicode MS"/>
                <a:cs typeface="Arial Unicode MS"/>
              </a:rPr>
              <a:t>11 /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544F1-DF97-451F-95AA-BAE63DD6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DETERMINISTIC CONTRACTS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B2E4A-EAC7-429E-AE53-6A87433B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rPr>
              <a:t>quality · safety · integrity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135F0-F393-4B0F-B950-31662CF1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3EE02-C7D0-447B-A053-FB294D93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62175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缺参数 · unresolved · parser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8788C-836F-4B71-8390-D38C0115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D9298-30BE-4703-AB84-F37A4CF4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611EC-118D-45F4-8ABB-66957FFB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43225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地域 / 时效 / scope receipt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E320C-407F-4E03-8A6C-4406742C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0995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7A58D-363D-4115-BBEC-DC39B0B4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rPr>
              <a:t>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E9C20-6DD1-4052-A768-36ADB7B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24275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源 digest · seal · trusted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87FEF-FBAA-4A32-9CD8-1A81BB27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51707-1812-40A1-A7D9-7BAF1004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33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AF0FF"/>
                </a:solidFill>
                <a:latin typeface="Arial Unicode MS"/>
                <a:ea typeface="Arial Unicode MS"/>
                <a:cs typeface="Arial Unicode MS"/>
              </a:rPr>
              <a:t>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689A7-4615-43EA-83F5-490FFA94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05325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跨 tenant · approval TOCTOU · package tamper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B8364-D439-4849-AB2F-AA579C6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7205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FE326-A1A4-4ED7-8537-0A05AF3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29250"/>
            <a:ext cx="65913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12383">
            <a:solidFill>
              <a:srgbClr val="4754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C0AA3-0515-4947-973B-6DB8AD0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72125"/>
            <a:ext cx="613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CE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CE5C"/>
                </a:solidFill>
                <a:latin typeface="Arial Unicode MS"/>
                <a:ea typeface="Arial Unicode MS"/>
                <a:cs typeface="Arial Unicode MS"/>
              </a:rPr>
              <a:t>不覆盖：法律准确率 · LLM prompt injection · MCP poisoning · 生产安全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F18FF-3D3D-441F-B5CA-58544236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rPr>
              <a:t>PF / 09 / 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3E06F-C16B-423E-BE3A-CDD32BB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A9B1BD"/>
                </a:solidFill>
                <a:latin typeface="Arial Unicode MS"/>
                <a:ea typeface="Arial Unicode MS"/>
                <a:cs typeface="Arial Unicode MS"/>
              </a:rPr>
              <a:t>PUBLIC SYNTHETIC · STRICT CLOSED SET</a:t>
            </a:r>
          </a:p>
        </p:txBody>
      </p:sp>
    </p:spTree>
    <p:extLst>
      <p:ext uri="{BB962C8B-B14F-4D97-AF65-F5344CB8AC3E}">
        <p14:creationId xmlns:p14="http://schemas.microsoft.com/office/powerpoint/2010/main" val="173791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B9A3A2-9BAE-4B8B-A5A1-87566A2E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AAE53-B286-409B-827A-4C3AAE5A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047F6-097B-4284-82F5-064E9146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EVALUATION / EVIDENCE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FCB0A-AD66-407E-B281-E7D84C95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6FC35-C5AC-43D4-92B3-7CDB7848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78AC8-9BFF-4381-B932-424E5847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36D01-A970-475D-A7F1-5AF5AF42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结果先保持 UNKNOWN，直到 Worker receipts 齐全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469E2-AB0E-4C77-80A4-90145B5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048000" cy="2305050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048E3-F551-4B62-A77B-67ED106E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18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1DDDE-81DA-4AA4-88C2-48F3DDDB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0 / DETERMINISTIC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264D7-9775-4292-B9C6-5665A557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冻结 reference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5CC64-255A-4A35-9EE3-EB36F997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protocol arm not executed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34219-2739-4509-94A7-0A650151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400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800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D8F34-1E0F-490A-99BC-0FD09C6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UNKNOWN / points=null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EF0E8-0EF8-48D4-B056-9EBF92B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14550"/>
            <a:ext cx="3048000" cy="2305050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98223-0C8D-4177-93D2-A98BCAB9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55E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F69A0-187F-45D8-A554-04CAB01F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1 / SINGLE LEADER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65055-ACFA-40C4-B315-38403B4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Leader-only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98BC1-57E4-456F-8328-4F96BF60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Leader Running · 1 container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E4508-B4E5-4E55-BFAE-AD0835A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2400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800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E4525-1ECE-474D-973A-7A51612A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719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UNKNOWN / points=null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44C91-FAA8-49B6-A501-CD28500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3048000" cy="2305050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2383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DEB60-777F-45CB-BDB0-B712AC88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EB519-56D5-482F-9B48-A5D6E119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6 / TEAM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E6F5F-D391-45EE-B0A1-ADB0E7D1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Leader + 5 specialists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4CBC56-66B2-480E-8FAE-F221C57C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5 ready · 6 containers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F0AFB-9230-4FFA-A98F-AA13EDB8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2400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800"/>
          </a:solidFill>
          <a:ln xmlns:a="http://schemas.openxmlformats.org/drawingml/2006/main" w="12383">
            <a:solidFill>
              <a:srgbClr val="C778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DBB7F-0BCD-40E1-B2EC-AD7E76FE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719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UNKNOWN / points=null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81DF99-57C1-4730-9368-21FB986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0584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2383">
            <a:solidFill>
              <a:srgbClr val="155E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CD2DE-95F5-4FFE-B31D-7AD445DD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55EEF"/>
                </a:solidFill>
                <a:latin typeface="Arial Unicode MS"/>
                <a:ea typeface="Arial Unicode MS"/>
                <a:cs typeface="Arial Unicode MS"/>
              </a:rPr>
              <a:t>14 scenarios × 20 planned paired replicates / cell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07E206-0D26-4541-AC42-1DBDD094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594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02124"/>
                </a:solidFill>
                <a:latin typeface="Arial Unicode MS"/>
                <a:ea typeface="Arial Unicode MS"/>
                <a:cs typeface="Arial Unicode MS"/>
              </a:rPr>
              <a:t>minimum 18 valid · complete cost / latency / trace / provenance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23255-BBDF-4958-8D8B-BB541AD5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114550"/>
            <a:ext cx="723900" cy="34480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E62E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3ED594-20C2-4A9F-9CE9-4FB61BD8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62200"/>
            <a:ext cx="381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U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F862B8-32C6-489D-9A6C-716433BA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33900"/>
            <a:ext cx="57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62E2E"/>
                </a:solidFill>
                <a:latin typeface="Arial Unicode MS"/>
                <a:ea typeface="Arial Unicode MS"/>
                <a:cs typeface="Arial Unicode MS"/>
              </a:rPr>
              <a:t>越界仍产出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BD5E8D-B18B-4CB2-BC4B-F6323C24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Manager operator smoke 缺 Worker / LLM / task / Matrix / Skill / Human receipts，因此不会误开 gate。</a:t>
            </a:r>
          </a:p>
        </p:txBody>
      </p:sp>
    </p:spTree>
    <p:extLst>
      <p:ext uri="{BB962C8B-B14F-4D97-AF65-F5344CB8AC3E}">
        <p14:creationId xmlns:p14="http://schemas.microsoft.com/office/powerpoint/2010/main" val="7730048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4983B6-395A-40BB-B80D-CB5EC28B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9D79D-62E0-41CB-9405-E13B796C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5DD6B-AF56-4222-A265-7F20A585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SCORECARD / OPEN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D5F2A-36FD-412A-A90C-E180426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A79EE-F49A-47D6-80B9-209F02E0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A65E6-900D-40B1-BDAB-4CDCB10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6B52B-13D8-43E3-A6DE-42EB57E0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每一项官方评分都对应一类可检查证据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D8A26-63BB-482C-9D92-5F65E28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权重来自 GOAI 官方规则；下列内容是证据对齐，不是已获分数。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682C6-7B85-4EDC-90EA-88313C4F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5748B-1CFD-4BD0-BF36-F6E4D09C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8F296-D734-43F1-8864-4778A29A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场景价值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D1823-96E2-4509-87E6-4FCCB93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Demo + paired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550C8-DDBB-424F-9E6D-CF381C6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52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4BDE2-C5A4-4BBC-8FCF-4B8B2AB1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384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4B3D3-C397-4FDF-89BB-CC8BD421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多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90383-65EA-4D40-ADC3-A9EBA1E9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147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Worker receipts + DAG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F3ED4-4537-4C88-9181-AD84BF37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37C0E-EF46-4952-B236-78EF5405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384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FECB6-4F80-4396-8F81-70E826F6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71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Skill 工程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605C0-0993-4DF1-BCE1-15811AE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147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I/O + failure + reuse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2B88C-E589-45E7-B673-337736FC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BAB0B-951F-4046-ACAC-2749C2FC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75DF2-44AD-4448-B411-0EB33065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718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工程安全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F338A-031F-4179-AE1E-78C4834B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Gate + trace + supply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51D960-27B3-4DF4-8BDA-82C24BF9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912E2-D561-4346-A010-D6FA6D08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38400"/>
            <a:ext cx="110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2C3E1-8869-4032-84A8-F16ED7D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71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开放开源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0D2224-023A-48AE-8F80-2AA813D7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147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Repo + CI +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ACF65-2C6A-423D-9EC5-B7867574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4E7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5BCB3B-07EB-469C-A881-7B5791C0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5E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F8860-4868-4088-BF9E-0B24DDAF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366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34600-C1C8-4C6A-96EB-A612E5CA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pytest tests · stable local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576A6-0E34-4721-8B16-5E3ABEA7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6245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5E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F0A271-413E-4823-A9BB-A98EA9FC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33900"/>
            <a:ext cx="2209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300 / 300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DFC994-4FAF-45FB-90F5-7BFE2CB1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48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local direct HTTP · not SLA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2AF94E-926A-4CE1-A8EA-27CB5174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B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ADAE89-886C-4835-B3B1-229C228F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339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937 / 45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E39BAA-D26E-41BB-8080-1F3D0A4F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48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CycloneDX components / SPDX packages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78D75B-3BEC-4FC1-A76E-2EC6A21B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B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A434AA-359C-4D9A-AD0D-C43C98C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33900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82AAE8-69D1-4EB1-871B-DCA73F22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482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fixed-DB vulnerability records · point-in-time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51901F-FE97-4F8B-9FDF-12C95C08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6245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0D1446-A24E-4448-9CD2-664DC178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33900"/>
            <a:ext cx="1733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PUBLIC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B7EFA4-AD6A-4FC0-B99B-14B61287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482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GitHub repo · exact evidence files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CDB59C-07D1-4791-BE7C-96C1F4A6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image sha256:1a4c4efb…8775 · supply subject = MCP root = runtime observation</a:t>
            </a:r>
          </a:p>
        </p:txBody>
      </p:sp>
    </p:spTree>
    <p:extLst>
      <p:ext uri="{BB962C8B-B14F-4D97-AF65-F5344CB8AC3E}">
        <p14:creationId xmlns:p14="http://schemas.microsoft.com/office/powerpoint/2010/main" val="1247540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661338-84BC-49BE-BD89-DEB81C9A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PROOFFLOW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7586D-5F8F-4FB1-9561-E9B1BFCF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D850E-E321-45B9-9B2E-5A95D91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NEXT / RECEIPTS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F5BF-9870-42D1-824A-A66ADC17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94B96-454D-4901-BD90-679159AE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PF / 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B95C6-C6D0-41D3-AE52-4B0FE43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368"/>
                </a:solidFill>
                <a:latin typeface="Arial Unicode MS"/>
                <a:ea typeface="Arial Unicode MS"/>
                <a:cs typeface="Arial Unicode MS"/>
              </a:rPr>
              <a:t>PUBLIC SYNTHETIC · NO LLM · LOCAL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B4788-7BD9-495C-9A8C-9771ADE3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今天证明控制层；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下一道门是真实 Worker receipts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18A94-D1DD-4096-8713-E1E76DF3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906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2E2E"/>
          </a:solidFill>
          <a:ln xmlns:a="http://schemas.openxmlformats.org/drawingml/2006/main" w="9525">
            <a:solidFill>
              <a:srgbClr val="E62E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95B9D-B411-4367-A0A2-698DA860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85800"/>
            <a:ext cx="152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54D75-6E5F-4C0C-AD75-B366149F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PROVEN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349C4-173A-46EC-8161-A1C6E961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151E6-3801-46AF-905D-8885B7F2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Reference core + verifier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8A848-C8EC-49C4-81AC-B604DF74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B2304-863B-460F-B4D0-4CE1D7AA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Human Gate + 409 fail-closed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CF17C-77AF-4AA2-B15A-73F34E1B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5B8D-82D6-4499-9CB6-9A697FF1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Manager MCP + least-privilege ACL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C85D3-2D93-4BE3-ABCE-EC7951DB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68B5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D9E94-DEAA-4D54-B4A7-43E7BAFF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Public contracts + supply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17665-CF63-40F5-B1B5-3B3497A0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NEXT HARD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DAA84-9C56-4164-91CB-DF76CC88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C7CBC-C5EC-4B7D-88FB-12EC920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67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私密轮换旧凭据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30018-781E-4614-992F-102CF3B6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C46EF-E0F6-41C8-A2A3-8CC5696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81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单 Leader Worker 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9DB19-28D8-44F6-AF9A-3B16EA5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8E9CF-F0F1-41EA-972F-000D10D5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Leader + 5 specialists 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C29BE-3358-4061-89D4-38EC333F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7780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61ABA-9BBB-4EC0-BF25-48DAE80D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828"/>
                </a:solidFill>
                <a:latin typeface="Arial Unicode MS"/>
                <a:ea typeface="Arial Unicode MS"/>
                <a:cs typeface="Arial Unicode MS"/>
              </a:rPr>
              <a:t>14 场景 paired 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CA961-71D3-441F-99FC-7544306A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383">
            <a:solidFill>
              <a:srgbClr val="1018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AA47A-57F9-4E37-ABF1-797C531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复核代码与证据：github.com/MyGarfield/ProofFlow</a:t>
            </a:r>
          </a:p>
        </p:txBody>
      </p:sp>
    </p:spTree>
    <p:extLst>
      <p:ext uri="{BB962C8B-B14F-4D97-AF65-F5344CB8AC3E}">
        <p14:creationId xmlns:p14="http://schemas.microsoft.com/office/powerpoint/2010/main" val="159346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2026-08-20T18:02:49.5180000Z</dcterms:created>
  <dcterms:modified xsi:type="dcterms:W3CDTF">2026-08-20T18:02:49.5180000Z</dcterms:modified>
</coreProperties>
</file>